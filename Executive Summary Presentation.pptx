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0641BA-3401-42D7-9181-28C8C5ECF0EF}">
  <a:tblStyle styleId="{950641BA-3401-42D7-9181-28C8C5ECF0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c9bd2605_1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3c9bd2605_1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3c9bd2605_1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c9bd2605_1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3c9bd2605_1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3c9bd2605_1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3c9bd2605_1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3c9bd2605_1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3c9bd2605_1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c9bd2605_1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3c9bd2605_1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3c9bd2605_1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c9bd2605_1_1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d3c9bd2605_1_1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3c9bd2605_1_1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3c9bd2605_1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3c9bd2605_1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3c9bd2605_1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ccf011a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ccf011a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3c9bd2605_1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3c9bd2605_1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3c9bd2605_1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3c9bd2605_1_1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3c9bd2605_1_1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3c9bd2605_1_1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57200" y="1051560"/>
            <a:ext cx="5120640" cy="347472"/>
          </a:xfrm>
          <a:prstGeom prst="rect">
            <a:avLst/>
          </a:prstGeom>
          <a:solidFill>
            <a:srgbClr val="4E8FE8">
              <a:alpha val="14901"/>
            </a:srgbClr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02920" y="107899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1481328"/>
            <a:ext cx="6858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="1" lang="en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ultimodal</a:t>
            </a:r>
            <a:r>
              <a:rPr b="1" i="0" lang="en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Radiology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Diagnostics Pipeline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32918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Automated chest X-ray analysis with Grad-CAM interpretability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for human-in-the-loop clinical validation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4251960"/>
            <a:ext cx="2926080" cy="50292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02920" y="427024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Presented by  Ethan Saline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7132320" y="548640"/>
            <a:ext cx="1463040" cy="1463040"/>
          </a:xfrm>
          <a:prstGeom prst="ellipse">
            <a:avLst/>
          </a:prstGeom>
          <a:solidFill>
            <a:srgbClr val="4E8FE8">
              <a:alpha val="12156"/>
            </a:srgbClr>
          </a:solidFill>
          <a:ln cap="flat" cmpd="sng" w="12700">
            <a:solidFill>
              <a:srgbClr val="CADCF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7772400" y="1645920"/>
            <a:ext cx="2011680" cy="2011680"/>
          </a:xfrm>
          <a:prstGeom prst="ellipse">
            <a:avLst/>
          </a:prstGeom>
          <a:solidFill>
            <a:srgbClr val="4E8FE8">
              <a:alpha val="7843"/>
            </a:srgbClr>
          </a:solidFill>
          <a:ln cap="flat" cmpd="sng" w="12700">
            <a:solidFill>
              <a:srgbClr val="CADCF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6583680" y="2560320"/>
            <a:ext cx="914400" cy="914400"/>
          </a:xfrm>
          <a:prstGeom prst="ellipse">
            <a:avLst/>
          </a:prstGeom>
          <a:solidFill>
            <a:srgbClr val="4E8FE8">
              <a:alpha val="14901"/>
            </a:srgbClr>
          </a:solidFill>
          <a:ln cap="flat" cmpd="sng" w="12700">
            <a:solidFill>
              <a:srgbClr val="CADCF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Background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65760" y="1170432"/>
            <a:ext cx="40690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11480" y="1170432"/>
            <a:ext cx="64008" cy="356616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548640" y="126187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Project Purpose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48640" y="1719072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A proof of concept for integrating machine learning into hospital medical systems. The pipeline ingests an X-ray image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  • Generates a radiology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  • Diagnoses the </a:t>
            </a:r>
            <a:r>
              <a:rPr lang="en" sz="1300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illness using</a:t>
            </a: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 pro</a:t>
            </a:r>
            <a:r>
              <a:rPr lang="en" sz="1300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babilities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  • Visualizes where the model focuses via Grad-CAM heatmaps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A human-in-the-loop review step validates all outputs before clinical decisions are made.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709160" y="1170432"/>
            <a:ext cx="40690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709160" y="1170432"/>
            <a:ext cx="64008" cy="1600200"/>
          </a:xfrm>
          <a:prstGeom prst="rect">
            <a:avLst/>
          </a:prstGeom>
          <a:solidFill>
            <a:srgbClr val="2C6FBF"/>
          </a:solidFill>
          <a:ln cap="flat" cmpd="sng" w="12700">
            <a:solidFill>
              <a:srgbClr val="2C6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892040" y="126187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 Source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892040" y="1664208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MIMIC-CXR — ~377,000 images &amp; radiology reports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Currently: 1,200 reports active  |  Target: 5,000+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200 new X-rays + reports ingested weekly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709160" y="2907792"/>
            <a:ext cx="4069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709160" y="2907792"/>
            <a:ext cx="64008" cy="1828800"/>
          </a:xfrm>
          <a:prstGeom prst="rect">
            <a:avLst/>
          </a:prstGeom>
          <a:solidFill>
            <a:srgbClr val="2C6FBF"/>
          </a:solidFill>
          <a:ln cap="flat" cmpd="sng" w="12700">
            <a:solidFill>
              <a:srgbClr val="2C6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892040" y="299923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Training Schedule &amp; Deployment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892040" y="3401568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Partial retraining every Sunday at midnight  simulating real hospital patient influx.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A5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2E3A50"/>
                </a:solidFill>
                <a:latin typeface="Calibri"/>
                <a:ea typeface="Calibri"/>
                <a:cs typeface="Calibri"/>
                <a:sym typeface="Calibri"/>
              </a:rPr>
              <a:t>Designed for direct integration into the most common U.S. hospital EHR system.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r>
              <a:rPr b="1" lang="en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Five-Step Pipeline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74320" y="1188720"/>
            <a:ext cx="164592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274320" y="1188720"/>
            <a:ext cx="1645920" cy="73152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804672" y="1371600"/>
            <a:ext cx="585216" cy="585216"/>
          </a:xfrm>
          <a:prstGeom prst="ellipse">
            <a:avLst/>
          </a:prstGeom>
          <a:solidFill>
            <a:srgbClr val="4E8FE8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804672" y="13716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65760" y="21031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84048" y="2578608"/>
            <a:ext cx="142646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BioViL encodes each DICOM into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128-dim image embedding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1929384" y="2926080"/>
            <a:ext cx="114300" cy="0"/>
          </a:xfrm>
          <a:prstGeom prst="straightConnector1">
            <a:avLst/>
          </a:prstGeom>
          <a:noFill/>
          <a:ln cap="flat" cmpd="sng" w="254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7"/>
          <p:cNvSpPr/>
          <p:nvPr/>
        </p:nvSpPr>
        <p:spPr>
          <a:xfrm>
            <a:off x="2034540" y="1188720"/>
            <a:ext cx="164592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2034540" y="1188720"/>
            <a:ext cx="1645920" cy="73152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2564892" y="1371600"/>
            <a:ext cx="585216" cy="585216"/>
          </a:xfrm>
          <a:prstGeom prst="ellipse">
            <a:avLst/>
          </a:prstGeom>
          <a:solidFill>
            <a:srgbClr val="4E8FE8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564892" y="13716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125980" y="21031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144268" y="2578608"/>
            <a:ext cx="142646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FAISS retrieves 5 most similar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historical studies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(Recall@5: 89.7% @ 1,200 studies)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3689604" y="2926080"/>
            <a:ext cx="114300" cy="0"/>
          </a:xfrm>
          <a:prstGeom prst="straightConnector1">
            <a:avLst/>
          </a:prstGeom>
          <a:noFill/>
          <a:ln cap="flat" cmpd="sng" w="254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7"/>
          <p:cNvSpPr/>
          <p:nvPr/>
        </p:nvSpPr>
        <p:spPr>
          <a:xfrm>
            <a:off x="3794760" y="1188720"/>
            <a:ext cx="164592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3794760" y="1188720"/>
            <a:ext cx="1645920" cy="73152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325112" y="1371600"/>
            <a:ext cx="585216" cy="585216"/>
          </a:xfrm>
          <a:prstGeom prst="ellipse">
            <a:avLst/>
          </a:prstGeom>
          <a:solidFill>
            <a:srgbClr val="4E8FE8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325112" y="13716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886200" y="21031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904488" y="2578608"/>
            <a:ext cx="142646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BioViL-T generates findings &amp;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impression text from embedding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+ retrieved cases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>
            <a:off x="5449824" y="2926080"/>
            <a:ext cx="114300" cy="0"/>
          </a:xfrm>
          <a:prstGeom prst="straightConnector1">
            <a:avLst/>
          </a:prstGeom>
          <a:noFill/>
          <a:ln cap="flat" cmpd="sng" w="254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7"/>
          <p:cNvSpPr/>
          <p:nvPr/>
        </p:nvSpPr>
        <p:spPr>
          <a:xfrm>
            <a:off x="5554980" y="1188720"/>
            <a:ext cx="164592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554980" y="1188720"/>
            <a:ext cx="1645920" cy="73152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085332" y="1371600"/>
            <a:ext cx="585216" cy="585216"/>
          </a:xfrm>
          <a:prstGeom prst="ellipse">
            <a:avLst/>
          </a:prstGeom>
          <a:solidFill>
            <a:srgbClr val="4E8FE8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085332" y="13716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646420" y="21031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664708" y="2578608"/>
            <a:ext cx="142646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CNN classifier receives 256-dim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image + report embedding 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outputs per-pathology probabilities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>
            <a:off x="7210044" y="2926080"/>
            <a:ext cx="114300" cy="0"/>
          </a:xfrm>
          <a:prstGeom prst="straightConnector1">
            <a:avLst/>
          </a:prstGeom>
          <a:noFill/>
          <a:ln cap="flat" cmpd="sng" w="254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7"/>
          <p:cNvSpPr/>
          <p:nvPr/>
        </p:nvSpPr>
        <p:spPr>
          <a:xfrm>
            <a:off x="7315200" y="1188720"/>
            <a:ext cx="164592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7315200" y="1188720"/>
            <a:ext cx="1645920" cy="73152"/>
          </a:xfrm>
          <a:prstGeom prst="rect">
            <a:avLst/>
          </a:prstGeom>
          <a:solidFill>
            <a:srgbClr val="2C6FBF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7845552" y="1371600"/>
            <a:ext cx="585216" cy="585216"/>
          </a:xfrm>
          <a:prstGeom prst="ellipse">
            <a:avLst/>
          </a:prstGeom>
          <a:solidFill>
            <a:srgbClr val="4E8FE8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7845552" y="13716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406640" y="21031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424928" y="2578608"/>
            <a:ext cx="142646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Grad-CAM heatmaps generated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for interpretability; outputs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CDE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0CDE8"/>
                </a:solidFill>
                <a:latin typeface="Calibri"/>
                <a:ea typeface="Calibri"/>
                <a:cs typeface="Calibri"/>
                <a:sym typeface="Calibri"/>
              </a:rPr>
              <a:t>persisted to PostgreSQL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Methodology — Storage &amp; Label Strategy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65760" y="114300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411480" y="1143000"/>
            <a:ext cx="64008" cy="356616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66928" y="12344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Storage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66928" y="1783080"/>
            <a:ext cx="3749040" cy="777240"/>
          </a:xfrm>
          <a:prstGeom prst="rect">
            <a:avLst/>
          </a:prstGeom>
          <a:solidFill>
            <a:srgbClr val="EEF2F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66928" y="1783080"/>
            <a:ext cx="54864" cy="77724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8580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85800" y="216712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Image embeddings vector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66928" y="2679192"/>
            <a:ext cx="3749040" cy="777240"/>
          </a:xfrm>
          <a:prstGeom prst="rect">
            <a:avLst/>
          </a:prstGeom>
          <a:solidFill>
            <a:srgbClr val="EEF2F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66928" y="2679192"/>
            <a:ext cx="54864" cy="77724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685800" y="27249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85800" y="3063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 of truth — all outputs &amp;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66928" y="3575304"/>
            <a:ext cx="3749040" cy="777240"/>
          </a:xfrm>
          <a:prstGeom prst="rect">
            <a:avLst/>
          </a:prstGeom>
          <a:solidFill>
            <a:srgbClr val="EEF2F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66928" y="3575304"/>
            <a:ext cx="54864" cy="77724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85800" y="362102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85800" y="395935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Hot cache with 7-day TTL for fast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663440" y="1143000"/>
            <a:ext cx="64008" cy="3566160"/>
          </a:xfrm>
          <a:prstGeom prst="rect">
            <a:avLst/>
          </a:prstGeom>
          <a:solidFill>
            <a:srgbClr val="2C6FBF"/>
          </a:solidFill>
          <a:ln cap="flat" cmpd="sng" w="12700">
            <a:solidFill>
              <a:srgbClr val="2C6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4846320" y="12344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Uncertainty Label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8"/>
          <p:cNvGraphicFramePr/>
          <p:nvPr/>
        </p:nvGraphicFramePr>
        <p:xfrm>
          <a:off x="475488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{950641BA-3401-42D7-9181-28C8C5ECF0EF}</a:tableStyleId>
              </a:tblPr>
              <a:tblGrid>
                <a:gridCol w="1280150"/>
                <a:gridCol w="1005850"/>
                <a:gridCol w="16459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conditions (default)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U-Ones →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Clinically safer — false negatives are more harmful than false positives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Cardiomegaly &amp; Atelectasis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U-Zeroes → 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Uncertain cases trend negative historically in CheXpert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r>
              <a:rPr b="1" lang="en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Pipeline Scripts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9"/>
          <p:cNvGraphicFramePr/>
          <p:nvPr/>
        </p:nvGraphicFramePr>
        <p:xfrm>
          <a:off x="32004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{950641BA-3401-42D7-9181-28C8C5ECF0EF}</a:tableStyleId>
              </a:tblPr>
              <a:tblGrid>
                <a:gridCol w="594350"/>
                <a:gridCol w="1691650"/>
                <a:gridCol w="2514600"/>
                <a:gridCol w="37033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get_data.py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MIMIC-CXR PhysioNet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DICOMs in data/raw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label_data.py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data/raw DICOMs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manifest.csv appended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ingest.py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manifest.csv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Studies + labels in PostgreSQL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encode.py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data/raw DICOMs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 in FAISS; DICOMs deleted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embedding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Top-5 similar cases with reports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 + retrieved cases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Findings + impression + report embedding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emb. (128) + report emb. (128)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Per-pathology probabilities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train_classifier.py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embeddings + labels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 CNN weights saved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validate.py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outputs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Heatmaps + final JSON to PostgreSQL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heatmap.jp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97280"/>
            <a:ext cx="37490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5029200" y="4251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Grad-CAM heatmap — Kaggle X-ray correctly diagnosed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with pneumonia by both model and physician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65760" y="1115568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0.72–0.82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65760" y="1810512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AUROC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Pneumonia · Edema · Consolidation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874520" y="1097280"/>
            <a:ext cx="1371600" cy="13716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1874520" y="1115568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89.7%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874520" y="1810512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Recall@5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383280" y="1097280"/>
            <a:ext cx="1371600" cy="13716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383280" y="1115568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&lt; 2 sec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383280" y="1810512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latency per study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65760" y="2633472"/>
            <a:ext cx="4480560" cy="132588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3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02920" y="266090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 JSON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2920" y="2962656"/>
            <a:ext cx="4224528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BBFE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9BBFE0"/>
                </a:solidFill>
                <a:latin typeface="Consolas"/>
                <a:ea typeface="Consolas"/>
                <a:cs typeface="Consolas"/>
                <a:sym typeface="Consolas"/>
              </a:rPr>
              <a:t>{ "findings": "Mild atelectasis at the left base...",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BBFE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9BBFE0"/>
                </a:solidFill>
                <a:latin typeface="Consolas"/>
                <a:ea typeface="Consolas"/>
                <a:cs typeface="Consolas"/>
                <a:sym typeface="Consolas"/>
              </a:rPr>
              <a:t>  "impression": "No acute cardiopulmonary process.",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BBFE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9BBFE0"/>
                </a:solidFill>
                <a:latin typeface="Consolas"/>
                <a:ea typeface="Consolas"/>
                <a:cs typeface="Consolas"/>
                <a:sym typeface="Consolas"/>
              </a:rPr>
              <a:t>  "diagnoses": { "pneumonia": 0.83, "effusion": 0.11 },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BBFE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9BBFE0"/>
                </a:solidFill>
                <a:latin typeface="Consolas"/>
                <a:ea typeface="Consolas"/>
                <a:cs typeface="Consolas"/>
                <a:sym typeface="Consolas"/>
              </a:rPr>
              <a:t>  "confidence": 0.91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65760" y="4041648"/>
            <a:ext cx="4480560" cy="502920"/>
          </a:xfrm>
          <a:prstGeom prst="rect">
            <a:avLst/>
          </a:prstGeom>
          <a:solidFill>
            <a:srgbClr val="4E8FE8">
              <a:alpha val="14901"/>
            </a:srgbClr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57200" y="405993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Pipeline retrains automatically each week as new data accumulates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60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450"/>
            <a:ext cx="9144001" cy="4384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4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Development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65760" y="1170432"/>
            <a:ext cx="8412480" cy="11430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65760" y="1170432"/>
            <a:ext cx="749808" cy="114300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365760" y="1170432"/>
            <a:ext cx="74980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1234440" y="1261872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 Heatmap per Condition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1234440" y="164592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DD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AABDD6"/>
                </a:solidFill>
                <a:latin typeface="Calibri"/>
                <a:ea typeface="Calibri"/>
                <a:cs typeface="Calibri"/>
                <a:sym typeface="Calibri"/>
              </a:rPr>
              <a:t>At the moment the heatmap generated is an “overall” but does not show where the model is looking to claim each diagnosis specifically.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65760" y="2432304"/>
            <a:ext cx="8412480" cy="11430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365760" y="2432304"/>
            <a:ext cx="749808" cy="114300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365760" y="2432304"/>
            <a:ext cx="74980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234440" y="2523744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U-Train Uncertainty Label Strategy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1234440" y="2907792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DD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AABDD6"/>
                </a:solidFill>
                <a:latin typeface="Calibri"/>
                <a:ea typeface="Calibri"/>
                <a:cs typeface="Calibri"/>
                <a:sym typeface="Calibri"/>
              </a:rPr>
              <a:t>Replace the current U-Ones / U-Zeroes strategies with a self-trained uncertainty handling approach for improved label quality and more nuanced probabilistic outputs.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65760" y="3694176"/>
            <a:ext cx="8412480" cy="1143000"/>
          </a:xfrm>
          <a:prstGeom prst="rect">
            <a:avLst/>
          </a:prstGeom>
          <a:solidFill>
            <a:srgbClr val="243558"/>
          </a:solidFill>
          <a:ln cap="flat" cmpd="sng" w="127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365760" y="3694176"/>
            <a:ext cx="749808" cy="1143000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365760" y="3694176"/>
            <a:ext cx="74980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234440" y="3785616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Epic / FHIR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234440" y="4169664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DD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AABDD6"/>
                </a:solidFill>
                <a:latin typeface="Calibri"/>
                <a:ea typeface="Calibri"/>
                <a:cs typeface="Calibri"/>
                <a:sym typeface="Calibri"/>
              </a:rPr>
              <a:t>Connect the pipeline directly to the EHR so reports and diagnoses surface within the clinical workflow without manual export — enabling seamless human-in-the-loop review at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4E8FE8"/>
          </a:solidFill>
          <a:ln cap="flat" cmpd="sng" w="12700">
            <a:solidFill>
              <a:srgbClr val="4E8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-365760" y="-365760"/>
            <a:ext cx="3200400" cy="3200400"/>
          </a:xfrm>
          <a:prstGeom prst="ellipse">
            <a:avLst/>
          </a:prstGeom>
          <a:solidFill>
            <a:srgbClr val="4E8FE8">
              <a:alpha val="7843"/>
            </a:srgbClr>
          </a:solidFill>
          <a:ln cap="flat" cmpd="sng" w="12700">
            <a:solidFill>
              <a:srgbClr val="CADCF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6400800" y="457200"/>
            <a:ext cx="4114800" cy="4114800"/>
          </a:xfrm>
          <a:prstGeom prst="ellipse">
            <a:avLst/>
          </a:prstGeom>
          <a:solidFill>
            <a:srgbClr val="4E8FE8">
              <a:alpha val="5882"/>
            </a:srgbClr>
          </a:solidFill>
          <a:ln cap="flat" cmpd="sng" w="12700">
            <a:solidFill>
              <a:srgbClr val="CADCF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457200" y="2926080"/>
            <a:ext cx="1828800" cy="1828800"/>
          </a:xfrm>
          <a:prstGeom prst="ellipse">
            <a:avLst/>
          </a:prstGeom>
          <a:solidFill>
            <a:srgbClr val="4E8FE8">
              <a:alpha val="10196"/>
            </a:srgbClr>
          </a:solidFill>
          <a:ln cap="flat" cmpd="sng" w="12700">
            <a:solidFill>
              <a:srgbClr val="CADCF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914400" y="82296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Toward Hospital</a:t>
            </a:r>
            <a:r>
              <a:rPr b="1" lang="en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Ready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Radiology </a:t>
            </a:r>
            <a:r>
              <a:rPr b="1" lang="en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914400" y="28346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A scalable, interpretable, and clinically safe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3C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8FA3C8"/>
                </a:solidFill>
                <a:latin typeface="Calibri"/>
                <a:ea typeface="Calibri"/>
                <a:cs typeface="Calibri"/>
                <a:sym typeface="Calibri"/>
              </a:rPr>
              <a:t>for augmenting radiologist workflows with machine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  Ethan Saline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